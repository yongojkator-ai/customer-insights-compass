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09E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35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California</c:v>
                </c:pt>
                <c:pt idx="1">
                  <c:v>Oregon</c:v>
                </c:pt>
                <c:pt idx="2">
                  <c:v>Arizona</c:v>
                </c:pt>
                <c:pt idx="3">
                  <c:v>Nevada</c:v>
                </c:pt>
                <c:pt idx="4">
                  <c:v>Washington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3150</c:v>
                </c:pt>
                <c:pt idx="1">
                  <c:v>2601</c:v>
                </c:pt>
                <c:pt idx="2">
                  <c:v>1703</c:v>
                </c:pt>
                <c:pt idx="3">
                  <c:v>882</c:v>
                </c:pt>
                <c:pt idx="4">
                  <c:v>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4B-466D-9F48-B62C675160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35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CLV</c:v>
                </c:pt>
              </c:strCache>
            </c:strRef>
          </c:tx>
          <c:spPr>
            <a:solidFill>
              <a:srgbClr val="226133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35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Branch</c:v>
                </c:pt>
                <c:pt idx="1">
                  <c:v>Call Center</c:v>
                </c:pt>
                <c:pt idx="2">
                  <c:v>Agent</c:v>
                </c:pt>
                <c:pt idx="3">
                  <c:v>Web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8120</c:v>
                </c:pt>
                <c:pt idx="1">
                  <c:v>8100</c:v>
                </c:pt>
                <c:pt idx="2">
                  <c:v>7958</c:v>
                </c:pt>
                <c:pt idx="3">
                  <c:v>7780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49-4959-ACF4-39ED372979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35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014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6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5486400" cy="5486400"/>
          </a:xfrm>
          <a:prstGeom prst="ellipse">
            <a:avLst/>
          </a:prstGeom>
          <a:solidFill>
            <a:srgbClr val="1B4E29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1B4E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09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 COMPASS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Profiling &amp; Retention Analysis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an Auto Insurance Provider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·  Prepared for the Marketing &amp; Sales Leadership Team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828800" cy="0"/>
          </a:xfrm>
          <a:prstGeom prst="line">
            <a:avLst/>
          </a:prstGeom>
          <a:noFill/>
          <a:ln w="25400">
            <a:solidFill>
              <a:srgbClr val="109E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937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F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Marketing Agency  · </a:t>
            </a:r>
            <a:r>
              <a:rPr lang="en-US" sz="1200" dirty="0" err="1">
                <a:solidFill>
                  <a:srgbClr val="9F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Yongo</a:t>
            </a:r>
            <a:r>
              <a:rPr lang="en-US" sz="1200" dirty="0">
                <a:solidFill>
                  <a:srgbClr val="9F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F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Kator</a:t>
            </a:r>
            <a:r>
              <a:rPr lang="en-US" sz="1200" dirty="0">
                <a:solidFill>
                  <a:srgbClr val="9F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Joseph ·  </a:t>
            </a:r>
            <a:r>
              <a:rPr lang="en-US" sz="1200" dirty="0">
                <a:solidFill>
                  <a:srgbClr val="9F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9,134 Customers Analyzed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61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F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BUSINESS STANDS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226133"/>
          </a:solidFill>
          <a:ln/>
          <a:effectLst>
            <a:outerShdw blurRad="76200" dist="25400" dir="5400000" algn="bl" rotWithShape="0">
              <a:srgbClr val="1B3524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463040"/>
            <a:ext cx="1865376" cy="740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9,134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2295144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F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06624" y="137160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226133"/>
          </a:solidFill>
          <a:ln/>
          <a:effectLst>
            <a:outerShdw blurRad="76200" dist="25400" dir="5400000" algn="bl" rotWithShape="0">
              <a:srgbClr val="1B3524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16352" y="1463040"/>
            <a:ext cx="1865376" cy="740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$8,005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16352" y="2295144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F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Lifetime Value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56048" y="137160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226133"/>
          </a:solidFill>
          <a:ln/>
          <a:effectLst>
            <a:outerShdw blurRad="76200" dist="25400" dir="5400000" algn="bl" rotWithShape="0">
              <a:srgbClr val="1B3524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65776" y="1463040"/>
            <a:ext cx="1865376" cy="740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$93.22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65776" y="2295144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F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Monthly Premium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05472" y="137160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226133"/>
          </a:solidFill>
          <a:ln/>
          <a:effectLst>
            <a:outerShdw blurRad="76200" dist="25400" dir="5400000" algn="bl" rotWithShape="0">
              <a:srgbClr val="1B3524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0" y="1463040"/>
            <a:ext cx="1865376" cy="740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$434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0" y="2295144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F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Total Claim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454896" y="137160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226133"/>
          </a:solidFill>
          <a:ln/>
          <a:effectLst>
            <a:outerShdw blurRad="76200" dist="25400" dir="5400000" algn="bl" rotWithShape="0">
              <a:srgbClr val="1B3524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64624" y="1463040"/>
            <a:ext cx="1865376" cy="7406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564624" y="2295144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F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Response Rate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2971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6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in Brief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91440" cy="91440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328416"/>
            <a:ext cx="11027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of business is large and healthy (9,134 customers, $8,005 average lifetime value) but concentrated: California and Oregon alone account for nearly two-thirds of the customer base, and 61% of policies still sit on Basic coverage.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51376"/>
            <a:ext cx="91440" cy="91440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" y="4041648"/>
            <a:ext cx="11027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not evenly explained by the usual predictors — income, employment status and even marketing response show only a weak relationship to Customer Lifetime Value, meaning today's targeting criteria may be missing the customers who matter most.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864608"/>
            <a:ext cx="91440" cy="91440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754880"/>
            <a:ext cx="11027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clear risk pockets stand out for action: 20.6% of customers (1,882) currently hold an open complaint, and claims on luxury and small vehicles run far above the fleet average — both are addressable through service and underwriting, not just marketing.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61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F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· CUSTOMER BASE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Base &amp; Demographics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6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by State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600200"/>
          <a:ext cx="58521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583680" y="12801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6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0" y="1700784"/>
            <a:ext cx="91440" cy="91440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9" name="Text 6"/>
          <p:cNvSpPr/>
          <p:nvPr/>
        </p:nvSpPr>
        <p:spPr>
          <a:xfrm>
            <a:off x="6803136" y="1591056"/>
            <a:ext cx="4901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Coast concentration: California (3,150) and Oregon (2,601) together represent ~63% of all customers — regional campaigns and retention programs should be weighted accordingly.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83680" y="2688336"/>
            <a:ext cx="91440" cy="91440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11" name="Text 8"/>
          <p:cNvSpPr/>
          <p:nvPr/>
        </p:nvSpPr>
        <p:spPr>
          <a:xfrm>
            <a:off x="6803136" y="2578608"/>
            <a:ext cx="49011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is balanced (51% female / 49% male), so messaging doesn't need to skew by gender.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0" y="3401568"/>
            <a:ext cx="91440" cy="91440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13" name="Text 10"/>
          <p:cNvSpPr/>
          <p:nvPr/>
        </p:nvSpPr>
        <p:spPr>
          <a:xfrm>
            <a:off x="6803136" y="3291840"/>
            <a:ext cx="4901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 customers dominate (58%, vs. 27% single, 15% divorced) — household-oriented offers (bundling, multi-vehicle) have a large addressable audience.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83680" y="4389120"/>
            <a:ext cx="91440" cy="91440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15" name="Text 12"/>
          <p:cNvSpPr/>
          <p:nvPr/>
        </p:nvSpPr>
        <p:spPr>
          <a:xfrm>
            <a:off x="6803136" y="4279392"/>
            <a:ext cx="4901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is broad-based: Bachelor's (2,748), College (2,681) and High School or below (2,622) are nearly tied at the top, with fewer Master's (741) and Doctorate (342) holders.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0" y="5376672"/>
            <a:ext cx="91440" cy="91440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17" name="Text 14"/>
          <p:cNvSpPr/>
          <p:nvPr/>
        </p:nvSpPr>
        <p:spPr>
          <a:xfrm>
            <a:off x="6803136" y="5266944"/>
            <a:ext cx="49011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still skews Basic (5,568 of 9,134, ~61%) vs. Extended (2,742) and Premium (824) — a clear upsell runway.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 Compass  |  TFT Marketing Agency  ·  Quantum Sphere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61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F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· POLICY, COVERAGE &amp; FINANCIAL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Policy, Coverage &amp; Financial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743200" cy="2331720"/>
          </a:xfrm>
          <a:prstGeom prst="roundRect">
            <a:avLst>
              <a:gd name="adj" fmla="val 2745"/>
            </a:avLst>
          </a:prstGeom>
          <a:solidFill>
            <a:srgbClr val="E7F1E9"/>
          </a:solidFill>
          <a:ln w="9525">
            <a:solidFill>
              <a:srgbClr val="CFE4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538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6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BY EDUCATION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26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$44.8K top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221992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Master's-degree holders earn the most on average ($44.8K), nearly $9K above High School or Below ($35.6K). Bachelor's and College graduates sit in between and are essentially tied (~$37.4K).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1325880"/>
            <a:ext cx="2743200" cy="2331720"/>
          </a:xfrm>
          <a:prstGeom prst="roundRect">
            <a:avLst>
              <a:gd name="adj" fmla="val 2745"/>
            </a:avLst>
          </a:prstGeom>
          <a:solidFill>
            <a:srgbClr val="E7F1E9"/>
          </a:solidFill>
          <a:ln w="9525">
            <a:solidFill>
              <a:srgbClr val="CFE4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14538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6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BY EMPLOYMENT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47872" y="170992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26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$7.49K–$8.22K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47872" y="2221992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Employed customers post the highest average CLV ($8.22K), but the spread to Retired ($7.49K), the lowest group, is narrow — employment status alone is a weak lever for value segmentation.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2784" y="1325880"/>
            <a:ext cx="2743200" cy="2331720"/>
          </a:xfrm>
          <a:prstGeom prst="roundRect">
            <a:avLst>
              <a:gd name="adj" fmla="val 2745"/>
            </a:avLst>
          </a:prstGeom>
          <a:solidFill>
            <a:srgbClr val="E7F1E9"/>
          </a:solidFill>
          <a:ln w="9525">
            <a:solidFill>
              <a:srgbClr val="CFE4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4538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6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BY RENEW OFFER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55664" y="170992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26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$96.9 (Offer1)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55664" y="2221992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Offer1 commands the highest average monthly premium ($96.9), ahead of Offer3 ($92.5), Offer2 ($90.0) and Offer4 ($89.7) — worth studying and replicating in future campaigns.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80576" y="1325880"/>
            <a:ext cx="2743200" cy="2331720"/>
          </a:xfrm>
          <a:prstGeom prst="roundRect">
            <a:avLst>
              <a:gd name="adj" fmla="val 2745"/>
            </a:avLst>
          </a:prstGeom>
          <a:solidFill>
            <a:srgbClr val="E7F1E9"/>
          </a:solidFill>
          <a:ln w="9525">
            <a:solidFill>
              <a:srgbClr val="CFE4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3456" y="14538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6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BY VEHICLE CLASS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63456" y="170992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26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Luxury: ~$1,130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363456" y="2221992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Cars ($1,130) and Luxury SUVs ($1,093) generate roughly 3x the claims of Four-Door ($352) and Two-Door ($351) cars — a strong signal for risk-based pricing.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premium and coverage levels move together fairly evenly across Policy Type and Marital Status (all within a few dollars of $93/month), so the bigger financial swings come from education, employment, offer type and vehicle class — not policy structure itself.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 Compass  |  TFT Marketing Agency  ·  Quantum Sphere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61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F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 · ENGAGEMENT &amp; RETENTION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&amp; Retention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E7F1E9"/>
          </a:solidFill>
          <a:ln w="9525">
            <a:solidFill>
              <a:srgbClr val="CFE4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53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6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RESPONSE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26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14% respond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221992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of customers do not respond to marketing campaigns at all, leaving substantial headroom to improve targeting, offer relevance, or channel mix before scaling spend.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132588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E7F1E9"/>
          </a:solidFill>
          <a:ln w="9525">
            <a:solidFill>
              <a:srgbClr val="CFE4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53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6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≠ VALUE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34840" y="170992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26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$8,030 vs $7,855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34840" y="2221992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Counterintuitively, customers who do NOT respond to campaigns carry a slightly HIGHER average CLV ($8,030) than those who do ($7,855). Response history alone is not a reliable proxy for customer value.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566160" cy="2331720"/>
          </a:xfrm>
          <a:prstGeom prst="roundRect">
            <a:avLst>
              <a:gd name="adj" fmla="val 2745"/>
            </a:avLst>
          </a:prstGeom>
          <a:solidFill>
            <a:srgbClr val="E7F1E9"/>
          </a:solidFill>
          <a:ln w="9525">
            <a:solidFill>
              <a:srgbClr val="CFE4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453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6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COMPLAINTS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170992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26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20.6% of customers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0" y="2221992"/>
            <a:ext cx="32004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1,882 of 9,134 customers (20.6%) currently have at least one open complaint — a sizeable at-risk pool for proactive service outreach and retention effort.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39136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6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does not predict complaints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306824"/>
            <a:ext cx="91440" cy="91440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" y="4197096"/>
            <a:ext cx="110276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complaints are scattered evenly across the full range of Months Since Policy Inception (new and long-tenured customers alike) — complaint volume is not concentrated in the early or late policy lifecycle, so a tenure-based intervention alone won't target the right customers.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5294376"/>
            <a:ext cx="91440" cy="91440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" y="5184648"/>
            <a:ext cx="11027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vs. CLV also shows no strong linear relationship — high-CLV customers appear across the income spectrum, reinforcing that value segmentation needs multiple variables, not income or response history in isolation.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 Compass  |  TFT Marketing Agency  ·  Quantum Sphere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261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FE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4 · SALES &amp; CHANNEL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Channel 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6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CLV by Sales Channel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600200"/>
          <a:ext cx="58521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583680" y="12801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6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0" y="1700784"/>
            <a:ext cx="91440" cy="91440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9" name="Text 6"/>
          <p:cNvSpPr/>
          <p:nvPr/>
        </p:nvSpPr>
        <p:spPr>
          <a:xfrm>
            <a:off x="6803136" y="1591056"/>
            <a:ext cx="4901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is the volume leader, acquiring 3,477 of 9,134 customers (38%), followed by Branch (2,567), Call Center (1,765) and Web (1,325).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83680" y="2688336"/>
            <a:ext cx="91440" cy="91440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11" name="Text 8"/>
          <p:cNvSpPr/>
          <p:nvPr/>
        </p:nvSpPr>
        <p:spPr>
          <a:xfrm>
            <a:off x="6803136" y="2578608"/>
            <a:ext cx="49011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volume and value diverge: Branch ($8,120) and Call Center ($8,100) customers carry the highest average CLV, ahead of Agent ($7,958) — and Web trails on both count and value ($7,780).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0" y="3950208"/>
            <a:ext cx="91440" cy="91440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13" name="Text 10"/>
          <p:cNvSpPr/>
          <p:nvPr/>
        </p:nvSpPr>
        <p:spPr>
          <a:xfrm>
            <a:off x="6803136" y="3840480"/>
            <a:ext cx="4901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cost is essentially flat across channels ($428–$438), so channel choice drives acquisition volume and customer value — not risk exposure.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83680" y="4937760"/>
            <a:ext cx="91440" cy="91440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15" name="Text 12"/>
          <p:cNvSpPr/>
          <p:nvPr/>
        </p:nvSpPr>
        <p:spPr>
          <a:xfrm>
            <a:off x="6803136" y="4828032"/>
            <a:ext cx="490118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B3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don't just optimize Agent for scale — invest in converting more Branch and Call Center relationships, and diagnose why Web underperforms on both fronts.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 Compass  |  TFT Marketing Agency  ·  Quantum Sphere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6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9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Marketing &amp; Sales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84048" cy="384048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6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8992" y="1572768"/>
            <a:ext cx="4910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 by value, not response history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929384"/>
            <a:ext cx="491032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segmentation on policy count, coverage tier and vehicle class — campaign response showed no positive link to CLV.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55080" y="1627632"/>
            <a:ext cx="384048" cy="384048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6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85432" y="1572768"/>
            <a:ext cx="4910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1,882 at-risk accounts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85432" y="1929384"/>
            <a:ext cx="491032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proactive outreach program for customers with open complaints, independent of tenure — complaints aren't concentrated by policy age.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82112"/>
            <a:ext cx="384048" cy="384048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6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3127248"/>
            <a:ext cx="4910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Branch &amp; Call Center, fix Web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" y="3483864"/>
            <a:ext cx="491032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channels deliver the highest CLV per customer; diagnose Web's lower conversion value and volume before shifting further budget there.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3182112"/>
            <a:ext cx="384048" cy="384048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6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85432" y="3127248"/>
            <a:ext cx="4910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the 61% still on Basic coverage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85432" y="3483864"/>
            <a:ext cx="491032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share of the base has room to move to Extended or Premium tiers — a direct revenue lever.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36592"/>
            <a:ext cx="384048" cy="384048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36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6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8992" y="4681728"/>
            <a:ext cx="4910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pricing on Luxury &amp; Small-vehicle segments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78992" y="5038344"/>
            <a:ext cx="491032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run ~3x the fleet average for luxury vehicles, and small vehicles also over-index on claims relative to Medsize/Large.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55080" y="4736592"/>
            <a:ext cx="384048" cy="384048"/>
          </a:xfrm>
          <a:prstGeom prst="ellipse">
            <a:avLst/>
          </a:prstGeom>
          <a:solidFill>
            <a:srgbClr val="109E2D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4736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61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85432" y="4681728"/>
            <a:ext cx="4910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and replicate Offer1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85432" y="5038344"/>
            <a:ext cx="491032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captures the highest average premium ($96.9) of all renewal offers — understand why, and test extending its mechanics.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6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011680"/>
            <a:ext cx="5486400" cy="5486400"/>
          </a:xfrm>
          <a:prstGeom prst="ellipse">
            <a:avLst/>
          </a:prstGeom>
          <a:solidFill>
            <a:srgbClr val="1B4E2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 — full interactive detail is available in the Power BI dashboards.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1828800" cy="0"/>
          </a:xfrm>
          <a:prstGeom prst="line">
            <a:avLst/>
          </a:prstGeom>
          <a:noFill/>
          <a:ln w="25400">
            <a:solidFill>
              <a:srgbClr val="109E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97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 smtClean="0">
                <a:solidFill>
                  <a:srgbClr val="9F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Yongo</a:t>
            </a:r>
            <a:r>
              <a:rPr lang="en-US" sz="1200" dirty="0" smtClean="0">
                <a:solidFill>
                  <a:srgbClr val="9F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9F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Kator</a:t>
            </a:r>
            <a:r>
              <a:rPr lang="en-US" sz="1200" dirty="0" smtClean="0">
                <a:solidFill>
                  <a:srgbClr val="9F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Joseph ·  </a:t>
            </a:r>
            <a:r>
              <a:rPr lang="en-US" sz="1200" dirty="0">
                <a:solidFill>
                  <a:srgbClr val="9FC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TFT Marketing Agency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1224</Words>
  <Application>Microsoft Office PowerPoint</Application>
  <PresentationFormat>Widescreen</PresentationFormat>
  <Paragraphs>106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2</cp:revision>
  <dcterms:created xsi:type="dcterms:W3CDTF">2026-08-10T20:25:39Z</dcterms:created>
  <dcterms:modified xsi:type="dcterms:W3CDTF">2026-08-10T20:38:32Z</dcterms:modified>
</cp:coreProperties>
</file>